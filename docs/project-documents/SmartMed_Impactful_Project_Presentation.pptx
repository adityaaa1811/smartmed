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-480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8458200" y="822960"/>
            <a:ext cx="2651760" cy="2651760"/>
          </a:xfrm>
          <a:prstGeom prst="ellipse">
            <a:avLst/>
          </a:prstGeom>
          <a:solidFill>
            <a:srgbClr val="121F35"/>
          </a:solidFill>
          <a:ln>
            <a:solidFill>
              <a:srgbClr val="121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42248" y="1143000"/>
            <a:ext cx="2395728" cy="2395728"/>
          </a:xfrm>
          <a:prstGeom prst="ellipse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226296" y="1463040"/>
            <a:ext cx="2139696" cy="2139696"/>
          </a:xfrm>
          <a:prstGeom prst="ellipse">
            <a:avLst/>
          </a:prstGeom>
          <a:solidFill>
            <a:srgbClr val="153749"/>
          </a:solidFill>
          <a:ln>
            <a:solidFill>
              <a:srgbClr val="153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235440" y="1572768"/>
            <a:ext cx="1417320" cy="1417320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665208" y="1993392"/>
            <a:ext cx="566928" cy="566928"/>
          </a:xfrm>
          <a:prstGeom prst="ellipse">
            <a:avLst/>
          </a:prstGeom>
          <a:solidFill>
            <a:srgbClr val="0A1222"/>
          </a:solidFill>
          <a:ln>
            <a:solidFill>
              <a:srgbClr val="0A1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23960" y="4160520"/>
            <a:ext cx="2514600" cy="64008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372600" y="4343400"/>
            <a:ext cx="1965960" cy="64008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8" y="713232"/>
            <a:ext cx="384048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PROJECT PRESENTATION  /  2026–27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1371600"/>
            <a:ext cx="7315200" cy="10515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600" b="1" i="0">
                <a:solidFill>
                  <a:srgbClr val="F5F8FC"/>
                </a:solidFill>
                <a:latin typeface="Aptos Display"/>
              </a:rPr>
              <a:t>SmartMed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685800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91F5DA"/>
                </a:solidFill>
                <a:latin typeface="Aptos Display"/>
              </a:rPr>
              <a:t>Medication Management &amp;</a:t>
            </a:r>
          </a:p>
          <a:p>
            <a:pPr algn="l">
              <a:spcAft>
                <a:spcPts val="400"/>
              </a:spcAft>
            </a:pPr>
            <a:r>
              <a:rPr sz="2300" b="1" i="0">
                <a:solidFill>
                  <a:srgbClr val="91F5DA"/>
                </a:solidFill>
                <a:latin typeface="Aptos Display"/>
              </a:rPr>
              <a:t>Adherence Monitoring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703320"/>
            <a:ext cx="68580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A6B6CA"/>
                </a:solidFill>
                <a:latin typeface="Aptos"/>
              </a:rPr>
              <a:t>Organize medicines. Preserve dose history. Share care—with consent.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4663440"/>
            <a:ext cx="7132320" cy="107899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7552" y="4818888"/>
            <a:ext cx="65836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1" i="0">
                <a:solidFill>
                  <a:srgbClr val="28DABE"/>
                </a:solidFill>
                <a:latin typeface="Aptos"/>
              </a:rPr>
              <a:t>SUBMITTED BY  •  CSE-A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120640"/>
            <a:ext cx="65836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Aditya Mishra  ·  Aditya Yadav  ·  Badal Verma  ·  Bhawna Sen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989320"/>
            <a:ext cx="70408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Arya College of Engineering &amp; I.T.  |  RTU, Kota  |  Mentor: Mohit Mishra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73952"/>
            <a:ext cx="50292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01 /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 dirty="0">
                <a:solidFill>
                  <a:srgbClr val="F5F8FC"/>
                </a:solidFill>
                <a:latin typeface="Aptos Display"/>
              </a:rPr>
              <a:t>Medication routines are simple to start—hard to track consistently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55064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>
                <a:solidFill>
                  <a:srgbClr val="A6B6CA"/>
                </a:solidFill>
                <a:latin typeface="Aptos"/>
              </a:rPr>
              <a:t>The project addresses fragmented information, not medical decision-making.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3493008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58368" y="2020824"/>
            <a:ext cx="50292" cy="167335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" y="2039112"/>
            <a:ext cx="31272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 Display"/>
              </a:rPr>
              <a:t>SCATTERED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" y="2468879"/>
            <a:ext cx="3127248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Paper notes, phone alarms and separate apps can split medication lists, schedules and dose history.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74519"/>
            <a:ext cx="3493008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2020824"/>
            <a:ext cx="50292" cy="1673351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2039112"/>
            <a:ext cx="31272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 Display"/>
              </a:rPr>
              <a:t>MANUAL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68879"/>
            <a:ext cx="3127248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Past doses and long-term patterns may require people to reconstruct records and calculate summaries by hand.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74519"/>
            <a:ext cx="3493008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28431" y="2020824"/>
            <a:ext cx="50292" cy="1673351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2039112"/>
            <a:ext cx="312724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5F8FC"/>
                </a:solidFill>
                <a:latin typeface="Aptos Display"/>
              </a:rPr>
              <a:t>SHARING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468879"/>
            <a:ext cx="3127248" cy="12527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Caregivers may need visibility—but unrestricted access can expose more information than intended.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4315968"/>
            <a:ext cx="10835640" cy="1143000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526280"/>
            <a:ext cx="196596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DF769"/>
                </a:solidFill>
                <a:latin typeface="Aptos"/>
              </a:rPr>
              <a:t>THE DESIGN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471416"/>
            <a:ext cx="8275320" cy="6217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5F8FC"/>
                </a:solidFill>
                <a:latin typeface="Aptos Display"/>
              </a:rPr>
              <a:t>How can medication records become structured and reviewable while keeping the patient in control of who can monitor them?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80644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A6B6CA"/>
                </a:solidFill>
                <a:latin typeface="Aptos"/>
              </a:rPr>
              <a:t>SmartMed is an educational software project; it is not a medical device.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02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 dirty="0">
                <a:solidFill>
                  <a:srgbClr val="F5F8FC"/>
                </a:solidFill>
                <a:latin typeface="Aptos Display"/>
              </a:rPr>
              <a:t>One workspace. A clear history. Permission that can be withdrawn.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 dirty="0" err="1">
                <a:solidFill>
                  <a:srgbClr val="A6B6CA"/>
                </a:solidFill>
                <a:latin typeface="Aptos"/>
              </a:rPr>
              <a:t>SmartMed</a:t>
            </a:r>
            <a:r>
              <a:rPr sz="1200" b="0" i="0" dirty="0">
                <a:solidFill>
                  <a:srgbClr val="A6B6CA"/>
                </a:solidFill>
                <a:latin typeface="Aptos"/>
              </a:rPr>
              <a:t> brings related tasks into one browser-based application.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057400"/>
            <a:ext cx="2487168" cy="1920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22402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8DABE"/>
                </a:solidFill>
                <a:latin typeface="Aptos Display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43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MANAGE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182112"/>
            <a:ext cx="21031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Medication records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&amp; 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27832" y="2971800"/>
            <a:ext cx="265176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2057400"/>
            <a:ext cx="2487168" cy="1920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49040" y="22402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DF769"/>
                </a:solidFill>
                <a:latin typeface="Aptos Display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743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182112"/>
            <a:ext cx="21031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Dose events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&amp; outcomes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080760" y="2971800"/>
            <a:ext cx="265176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419088" y="2057400"/>
            <a:ext cx="2487168" cy="1920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01968" y="22402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4A5FF"/>
                </a:solidFill>
                <a:latin typeface="Aptos Display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2743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UNDERSTAND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182112"/>
            <a:ext cx="21031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Date-filtered history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&amp; analytics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33688" y="2971800"/>
            <a:ext cx="265176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272015" y="2057400"/>
            <a:ext cx="2487168" cy="1920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54895" y="2240280"/>
            <a:ext cx="502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FB163"/>
                </a:solidFill>
                <a:latin typeface="Aptos Display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5" y="274320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"/>
              </a:rPr>
              <a:t>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5" y="3182112"/>
            <a:ext cx="2103120" cy="5943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Read-only care-team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A6B6CA"/>
                </a:solidFill>
                <a:latin typeface="Aptos"/>
              </a:rPr>
              <a:t>monitoring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572000"/>
            <a:ext cx="10287000" cy="749808"/>
          </a:xfrm>
          <a:prstGeom prst="roundRect">
            <a:avLst/>
          </a:prstGeom>
          <a:solidFill>
            <a:srgbClr val="113441"/>
          </a:solidFill>
          <a:ln>
            <a:solidFill>
              <a:srgbClr val="1134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88720" y="4754880"/>
            <a:ext cx="97840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91F5DA"/>
                </a:solidFill>
                <a:latin typeface="Aptos"/>
              </a:rPr>
              <a:t>CORE PROMISE  →  Patient-controlled consent + server-side authorization + preserved history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03 / OBJECTIVES &amp;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Built around useful, testable software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Requirements and scope consolidated from the research paper, project report and SRS.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50292" cy="75895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Secure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Patient registration, login, JWT authentication and password hashing.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45352" y="1975104"/>
            <a:ext cx="50292" cy="758951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199339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Structured regimen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23160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Maintain medication records, schedules and saved dose outcomes.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3127248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13232" y="3273552"/>
            <a:ext cx="50292" cy="758951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291840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Meaningful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21608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Show date-filtered history and adherence indicators based on recorded events.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3127248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45352" y="3273552"/>
            <a:ext cx="50292" cy="758951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46520" y="3291840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Consent-based care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721608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Invite, accept, decline and revoke caregiver/doctor monitoring.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4425696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13232" y="4572000"/>
            <a:ext cx="50292" cy="75895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90288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Maintainable build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020056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Layered backend, versioned database migrations and automated test structure.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45352" y="4425696"/>
            <a:ext cx="51663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45352" y="4572000"/>
            <a:ext cx="50292" cy="758951"/>
          </a:xfrm>
          <a:prstGeom prst="rect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4590288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Honest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020056"/>
            <a:ext cx="4800600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No unsupported claims about clinical safety, diagnosis or adherence improvement.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04 / ROLES &amp; CONSENT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Access is a relationship—not just a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Care-team visibility requires a matching role and a patient-approved ACTIVE relationship.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063240" cy="132588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20824"/>
            <a:ext cx="50292" cy="103327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269748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 Display"/>
              </a:rPr>
              <a:t>PATIENT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68879"/>
            <a:ext cx="269748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Owns medication data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Controls consent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874519"/>
            <a:ext cx="3246120" cy="132588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83879" y="2020824"/>
            <a:ext cx="50292" cy="1033271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85048" y="2039112"/>
            <a:ext cx="28803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CAREGIVER / 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468879"/>
            <a:ext cx="2880360" cy="61264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Can view permitted monitoring data only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No dose editing through monitoring routes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176272"/>
            <a:ext cx="1115568" cy="658368"/>
          </a:xfrm>
          <a:prstGeom prst="roundRect">
            <a:avLst/>
          </a:prstGeom>
          <a:solidFill>
            <a:srgbClr val="182A4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97096" y="2359152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B163"/>
                </a:solidFill>
                <a:latin typeface="Aptos"/>
              </a:rPr>
              <a:t>PENDING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58968" y="2176272"/>
            <a:ext cx="1115568" cy="658368"/>
          </a:xfrm>
          <a:prstGeom prst="roundRect">
            <a:avLst/>
          </a:prstGeom>
          <a:solidFill>
            <a:srgbClr val="182A43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95544" y="2359152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ACTIVE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57416" y="2176272"/>
            <a:ext cx="1115568" cy="658368"/>
          </a:xfrm>
          <a:prstGeom prst="roundRect">
            <a:avLst/>
          </a:prstGeom>
          <a:solidFill>
            <a:srgbClr val="182A43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93992" y="2359152"/>
            <a:ext cx="1042415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FF6F7D"/>
                </a:solidFill>
                <a:latin typeface="Aptos"/>
              </a:rPr>
              <a:t>REVOKED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30752" y="2487168"/>
            <a:ext cx="365760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303520" y="2487168"/>
            <a:ext cx="109728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601968" y="2487168"/>
            <a:ext cx="118872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269480" y="2487168"/>
            <a:ext cx="822960" cy="0"/>
          </a:xfrm>
          <a:prstGeom prst="line">
            <a:avLst/>
          </a:prstGeom>
          <a:ln w="1905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0" y="3054096"/>
            <a:ext cx="4297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A6B6CA"/>
                </a:solidFill>
                <a:latin typeface="Aptos"/>
              </a:rPr>
              <a:t>Invite → accept / decline → revoke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4069080"/>
            <a:ext cx="10652760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51560" y="4279392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DF769"/>
                </a:solidFill>
                <a:latin typeface="Aptos"/>
              </a:rPr>
              <a:t>SECURITY RULE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4206240"/>
            <a:ext cx="8138160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Every monitoring request is checked on the server against the current account, matching relationship type and ACTIVE status.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440680"/>
            <a:ext cx="102412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Revocation blocks future monitoring access; the relationship record remains for traceability.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05 / FUNCTIONAL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Six connected modules turn daily actions into a usable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The feature set described in the submitted documents.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2020824"/>
            <a:ext cx="50292" cy="1005839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AUTH &amp;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468879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Register, login, current profile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74519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53128" y="2020824"/>
            <a:ext cx="50292" cy="1005839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54296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MEDICATIONS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468879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Create, view, update, deactivate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0456" y="1874519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0456" y="2020824"/>
            <a:ext cx="50292" cy="1005839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21624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SCHEDULES &amp; DOSES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1624" y="2468879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Scheduled events and dose outcomes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5800" y="3621024"/>
            <a:ext cx="50292" cy="1005839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6968" y="36393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69080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History, date filters, adherence summaries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53128" y="3474720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53128" y="3621024"/>
            <a:ext cx="50292" cy="1005839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54296" y="36393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CARE TEAM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54296" y="4069080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Invitations, consent state, read-only views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0456" y="3474720"/>
            <a:ext cx="3401568" cy="129844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0456" y="3621024"/>
            <a:ext cx="50292" cy="1005839"/>
          </a:xfrm>
          <a:prstGeom prst="rect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21624" y="36393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NOTIFICATIONS + CHECKER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1624" y="4069080"/>
            <a:ext cx="3035808" cy="5852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In-app events; informational interaction workflow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532120"/>
            <a:ext cx="1069848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163"/>
                </a:solidFill>
                <a:latin typeface="Aptos"/>
              </a:rPr>
              <a:t>Interaction checking uses a provider abstraction; the submitted default is a mock provider and returns no clinical interaction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06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A layered architecture keeps interface, rules and persistence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Three-tier runtime: React/TypeScript browser → Spring Boot REST API → MySQL 8.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2971800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240280"/>
            <a:ext cx="2971800" cy="73152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468880"/>
            <a:ext cx="2569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28DABE"/>
                </a:solidFill>
                <a:latin typeface="Aptos"/>
              </a:rPr>
              <a:t>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98648"/>
            <a:ext cx="256946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React 18 • TypeScript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Vite 5 • Chart.js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538728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Forms, dashboards,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date-based views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17720" y="2240280"/>
            <a:ext cx="2971800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17720" y="2240280"/>
            <a:ext cx="2971800" cy="73152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18888" y="2468880"/>
            <a:ext cx="2569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DF769"/>
                </a:solidFill>
                <a:latin typeface="Aptos"/>
              </a:rPr>
              <a:t>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8" y="2898648"/>
            <a:ext cx="256946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Java 17 • Spring Boot 3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Security •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3538728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Controller → Service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→ Repository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0" y="2240280"/>
            <a:ext cx="2971800" cy="19659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503920" y="2240280"/>
            <a:ext cx="2971800" cy="73152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5088" y="2468880"/>
            <a:ext cx="2569464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4A5FF"/>
                </a:solidFill>
                <a:latin typeface="Aptos"/>
              </a:rPr>
              <a:t>PERSISTENCE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898648"/>
            <a:ext cx="2569464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MySQL 8 • Flyway</a:t>
            </a:r>
          </a:p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"/>
              </a:rPr>
              <a:t>JPA repositories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5088" y="3538728"/>
            <a:ext cx="2569464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Relational records,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constraints, migrations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794760" y="3154680"/>
            <a:ext cx="704088" cy="0"/>
          </a:xfrm>
          <a:prstGeom prst="line">
            <a:avLst/>
          </a:prstGeom>
          <a:ln w="2540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776472" y="2743200"/>
            <a:ext cx="731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A6B6CA"/>
                </a:solidFill>
                <a:latin typeface="Aptos"/>
              </a:rPr>
              <a:t>REST / JSON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680960" y="3154680"/>
            <a:ext cx="704088" cy="0"/>
          </a:xfrm>
          <a:prstGeom prst="line">
            <a:avLst/>
          </a:prstGeom>
          <a:ln w="2540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635240" y="2743200"/>
            <a:ext cx="82296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800" b="1" i="0">
                <a:solidFill>
                  <a:srgbClr val="A6B6CA"/>
                </a:solidFill>
                <a:latin typeface="Aptos"/>
              </a:rPr>
              <a:t>JPA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4800600"/>
            <a:ext cx="8275320" cy="685800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194560" y="5001768"/>
            <a:ext cx="781812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91F5DA"/>
                </a:solidFill>
                <a:latin typeface="Aptos"/>
              </a:rPr>
              <a:t>Cross-cutting controls: JWT • BCrypt • ownership checks • role checks • Flyway migrations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07 / 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Security is enforced at the server boundary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The design avoids trusting role or ownership claims supplied by the browser.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32688" y="2057400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481328" y="1975104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JWT AUTHENTICATION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276856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Protected routes require a valid bearer token.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828800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64807" y="2057400"/>
            <a:ext cx="384048" cy="384048"/>
          </a:xfrm>
          <a:prstGeom prst="ellipse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13448" y="1975104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BCrypt HASHING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276856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Passwords are stored as hashes, not plaintext.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035808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32688" y="3264408"/>
            <a:ext cx="384048" cy="384048"/>
          </a:xfrm>
          <a:prstGeom prst="ellipse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81328" y="3182112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CURRENT DB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483864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Backend reloads the account and derives permissions from current database state.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035808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64807" y="3264408"/>
            <a:ext cx="384048" cy="384048"/>
          </a:xfrm>
          <a:prstGeom prst="ellipse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013448" y="3182112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OWNERSHIP CHECKS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3448" y="3483864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Patient-owned operations verify the authenticated owner.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42816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32688" y="4471416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81328" y="438912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LEAST PRIVILEGE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690872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Care-team monitoring is read-only and relationship-scoped.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242816"/>
            <a:ext cx="5120640" cy="960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464807" y="4471416"/>
            <a:ext cx="384048" cy="384048"/>
          </a:xfrm>
          <a:prstGeom prst="ellipse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13448" y="4389120"/>
            <a:ext cx="4114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RATE LIMITING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3448" y="4690872"/>
            <a:ext cx="4114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Authentication requests are rate-limited; current implementation is instance-local.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596128"/>
            <a:ext cx="10515600" cy="438912"/>
          </a:xfrm>
          <a:prstGeom prst="roundRect">
            <a:avLst/>
          </a:prstGeom>
          <a:solidFill>
            <a:srgbClr val="39252C"/>
          </a:solidFill>
          <a:ln>
            <a:solidFill>
              <a:srgbClr val="3925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5687568"/>
            <a:ext cx="1005840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FFB163"/>
                </a:solidFill>
                <a:latin typeface="Aptos"/>
              </a:rPr>
              <a:t>Production hardening still needed: formal security review, privacy assessment and safer token-storage evaluation.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08 / DATA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The system protects history from duplication and accidental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Dose generation and medication deactivation are treated as data-integrity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28DABE"/>
                </a:solidFill>
                <a:latin typeface="Aptos"/>
              </a:rPr>
              <a:t>DOSE GENERATION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331720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404872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68296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Select active schedules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014984" y="2734056"/>
            <a:ext cx="0" cy="237744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22960" y="3026663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099815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63239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Generate within a transaction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14984" y="3428999"/>
            <a:ext cx="0" cy="237745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822960" y="3721608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758184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Check existing occurrence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14984" y="4123944"/>
            <a:ext cx="0" cy="237744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2960" y="4416552"/>
            <a:ext cx="384048" cy="384048"/>
          </a:xfrm>
          <a:prstGeom prst="ellipse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489704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453128"/>
            <a:ext cx="38404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Unique key prevents duplicates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1901952"/>
            <a:ext cx="47548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DF769"/>
                </a:solidFill>
                <a:latin typeface="Aptos"/>
              </a:rPr>
              <a:t>DEACTIVATION</a:t>
            </a:r>
          </a:p>
        </p:txBody>
      </p:sp>
      <p:sp>
        <p:nvSpPr>
          <p:cNvPr id="26" name="Oval 25"/>
          <p:cNvSpPr/>
          <p:nvPr/>
        </p:nvSpPr>
        <p:spPr>
          <a:xfrm>
            <a:off x="6217920" y="2331720"/>
            <a:ext cx="384048" cy="384048"/>
          </a:xfrm>
          <a:prstGeom prst="ellipse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217920" y="2404872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2368296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Mark medication inactive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9944" y="2734056"/>
            <a:ext cx="0" cy="237744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217920" y="3026663"/>
            <a:ext cx="384048" cy="384048"/>
          </a:xfrm>
          <a:prstGeom prst="ellipse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3099815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3063239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Deactivate related schedules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409944" y="3428999"/>
            <a:ext cx="0" cy="237745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17920" y="3721608"/>
            <a:ext cx="384048" cy="384048"/>
          </a:xfrm>
          <a:prstGeom prst="ellipse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794760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758184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Cancel pending doses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409944" y="4123944"/>
            <a:ext cx="0" cy="237744"/>
          </a:xfrm>
          <a:prstGeom prst="line">
            <a:avLst/>
          </a:prstGeom>
          <a:ln w="12700">
            <a:solidFill>
              <a:srgbClr val="A6B6C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6217920" y="4416552"/>
            <a:ext cx="384048" cy="384048"/>
          </a:xfrm>
          <a:prstGeom prst="ellipse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4489704"/>
            <a:ext cx="384048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0A1222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453128"/>
            <a:ext cx="42062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"/>
              </a:rPr>
              <a:t>Preserve completed history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" y="5394960"/>
            <a:ext cx="10241280" cy="502920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97280" y="5532120"/>
            <a:ext cx="9875520" cy="2103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91F5DA"/>
                </a:solidFill>
                <a:latin typeface="Aptos"/>
              </a:rPr>
              <a:t>CANCELLED doses are excluded from adherence calculations; terminal states are protected by conditional transitions.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09 / ADHERENCE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Useful indicators—without pretending to be clinical measurements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Analytics summarize saved application events and depend on accurate user entries.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5120640" cy="210312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240280"/>
            <a:ext cx="4526280" cy="2926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ADHERENCE FORMULA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61488"/>
            <a:ext cx="4526280" cy="8229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5F8FC"/>
                </a:solidFill>
                <a:latin typeface="Aptos Display"/>
              </a:rPr>
              <a:t>100 × TAKEN doses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F5F8FC"/>
                </a:solidFill>
                <a:latin typeface="Aptos Display"/>
              </a:rPr>
              <a:t>÷ doses with a recorded outcome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3657600"/>
            <a:ext cx="45262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Cancelled doses are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65960"/>
            <a:ext cx="5166360" cy="91440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2112264"/>
            <a:ext cx="50292" cy="621792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213055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DATE-FILTERED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560320"/>
            <a:ext cx="4800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Review dose records over a requested date range.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090672"/>
            <a:ext cx="5166360" cy="91440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3236976"/>
            <a:ext cx="50292" cy="621792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19088" y="3255264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BOUNDED QUERIES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9088" y="3685032"/>
            <a:ext cx="4800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Analytics range: up to 366 days; history pagination defaults to 50 and caps at 100.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15384"/>
            <a:ext cx="5166360" cy="91440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4361688"/>
            <a:ext cx="50292" cy="621792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4379976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5F8FC"/>
                </a:solidFill>
                <a:latin typeface="Aptos Display"/>
              </a:rPr>
              <a:t>ATTENTION RULE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4809744"/>
            <a:ext cx="4800600" cy="20116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Month-to-date attention threshold: below 70% with at least 3 recorded doses.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257800"/>
            <a:ext cx="1069848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FB163"/>
                </a:solidFill>
                <a:latin typeface="Aptos"/>
              </a:rPr>
              <a:t>Important: a missing entry cannot distinguish “not taken” from “not recorded.” The 70% threshold is product logic—not a medically validated threshold.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10 / DATA &amp;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Relational data + versioned APIs support predictable behaviour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The API is versioned under /api/v1 and communicates with JSON request/response envelopes.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2020824"/>
            <a:ext cx="50292" cy="603503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468879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identity • role • credentials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8848" y="1874519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98848" y="2020824"/>
            <a:ext cx="50292" cy="603503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00016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MEDICATION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0016" y="2468879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patient-owned medication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66176" y="1874519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66176" y="2020824"/>
            <a:ext cx="50292" cy="603503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67344" y="203911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SCHEDULE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7344" y="2468879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timing and active 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044952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31520" y="3191256"/>
            <a:ext cx="50292" cy="603503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2688" y="3209544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DOSE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3639312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scheduled occurrence and outcome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98848" y="3044952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98848" y="3191256"/>
            <a:ext cx="50292" cy="603503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00016" y="3209544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RELATIONSHIP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00016" y="3639312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patient ↔ invitee ↔ consent state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66176" y="3044952"/>
            <a:ext cx="3401568" cy="896112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66176" y="3191256"/>
            <a:ext cx="50292" cy="603503"/>
          </a:xfrm>
          <a:prstGeom prst="rect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67344" y="3209544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NOTIFICATION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639312"/>
            <a:ext cx="3035808" cy="18287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recipient-owned in-app event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526280"/>
            <a:ext cx="10744200" cy="960120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24128" y="4700016"/>
            <a:ext cx="18288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CDF769"/>
                </a:solidFill>
                <a:latin typeface="Aptos"/>
              </a:rPr>
              <a:t>EXAMPLE ROUTES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4663440"/>
            <a:ext cx="82296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POST /api/v1/auth/register   •   POST /api/v1/auth/login</a:t>
            </a:r>
          </a:p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"/>
              </a:rPr>
              <a:t>GET /api/v1/users/me   •   POST /api/v1/interactions/check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5715000"/>
            <a:ext cx="106984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Flyway migrations V1–V4 are authoritative; Hibernate validates the schema at startup.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11 /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Testability is designed in—but measured claims stay honest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The supplied documents describe test categories and test structure, not a fresh pass/fail run.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50292" cy="75895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UNIT /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Focused utilities and business rules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975104"/>
            <a:ext cx="50292" cy="758951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99339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42316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Endpoints + persistence together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47888" y="182880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47888" y="1975104"/>
            <a:ext cx="50292" cy="758951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49056" y="199339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AUTHENTICATION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49056" y="242316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Registration, login and token rules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15468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13232" y="3300984"/>
            <a:ext cx="50292" cy="758951"/>
          </a:xfrm>
          <a:prstGeom prst="rect">
            <a:avLst/>
          </a:prstGeom>
          <a:solidFill>
            <a:srgbClr val="FFB163"/>
          </a:solidFill>
          <a:ln>
            <a:solidFill>
              <a:srgbClr val="FFB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331927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AUTHORIZATION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74904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Roles, ownership and relationship boundaries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15468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3300984"/>
            <a:ext cx="50292" cy="758951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81728" y="331927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MIGRATIONS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374904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Flyway schema behaviour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3154680"/>
            <a:ext cx="3401568" cy="105156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47888" y="3300984"/>
            <a:ext cx="50292" cy="758951"/>
          </a:xfrm>
          <a:prstGeom prst="rect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49056" y="3319272"/>
            <a:ext cx="3035808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5F8FC"/>
                </a:solidFill>
                <a:latin typeface="Aptos Display"/>
              </a:rPr>
              <a:t>FRONTEND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3749040"/>
            <a:ext cx="3035808" cy="33832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A6B6CA"/>
                </a:solidFill>
                <a:latin typeface="Aptos"/>
              </a:rPr>
              <a:t>Request/response and error handling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892040"/>
            <a:ext cx="10561320" cy="841248"/>
          </a:xfrm>
          <a:prstGeom prst="roundRect">
            <a:avLst/>
          </a:prstGeom>
          <a:solidFill>
            <a:srgbClr val="37272B"/>
          </a:solidFill>
          <a:ln>
            <a:solidFill>
              <a:srgbClr val="372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51560" y="5084064"/>
            <a:ext cx="100584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B163"/>
                </a:solidFill>
                <a:latin typeface="Aptos"/>
              </a:rPr>
              <a:t>Before final evaluation: run backend/frontend tests, verify migrations on MySQL 8, and capture genuine screenshots/results.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12 / END-TO-END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From a patient action to a controlled, reviewable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A typical journey demonstrates the application’s main value and its access-control boundary.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REGISTER / LOGIN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JWT access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286000" y="3063240"/>
            <a:ext cx="228600" cy="0"/>
          </a:xfrm>
          <a:prstGeom prst="line">
            <a:avLst/>
          </a:prstGeom>
          <a:ln w="1524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56032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70662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0662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ADD MEDICINE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0662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Owner-checked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206240" y="3063240"/>
            <a:ext cx="228600" cy="0"/>
          </a:xfrm>
          <a:prstGeom prst="line">
            <a:avLst/>
          </a:prstGeom>
          <a:ln w="1524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8056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2686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686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SET SCHEDULE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2686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Dose events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" y="3063240"/>
            <a:ext cx="228600" cy="0"/>
          </a:xfrm>
          <a:prstGeom prst="line">
            <a:avLst/>
          </a:prstGeom>
          <a:ln w="1524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4710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4710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RECORD DOSE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4710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Saved outcome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046720" y="3063240"/>
            <a:ext cx="228600" cy="0"/>
          </a:xfrm>
          <a:prstGeom prst="line">
            <a:avLst/>
          </a:prstGeom>
          <a:ln w="1524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32104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6734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REVIEW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Date range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966960" y="3063240"/>
            <a:ext cx="228599" cy="0"/>
          </a:xfrm>
          <a:prstGeom prst="line">
            <a:avLst/>
          </a:prstGeom>
          <a:ln w="15240">
            <a:solidFill>
              <a:srgbClr val="28DA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41280" y="2377440"/>
            <a:ext cx="1627632" cy="1389888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0387584" y="2560320"/>
            <a:ext cx="4572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28DABE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87584" y="2907792"/>
            <a:ext cx="132588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INVITE CARE TEAM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87584" y="3456432"/>
            <a:ext cx="132588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Consent state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97280" y="4434840"/>
            <a:ext cx="10012680" cy="868680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417320" y="4645152"/>
            <a:ext cx="9326880" cy="3657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91F5DA"/>
                </a:solidFill>
                <a:latin typeface="Aptos"/>
              </a:rPr>
              <a:t>CARE TEAM CAN VIEW ONLY AFTER ACCEPTANCE; PATIENT CAN REVOKE ACCESS AT ANY TIME.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5623560"/>
            <a:ext cx="987552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A6B6CA"/>
                </a:solidFill>
                <a:latin typeface="Aptos"/>
              </a:rPr>
              <a:t>The same journey should be demonstrated live using the actual application—not screenshots alone.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13 / LIMITATIONS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Credibility comes from knowing what is—and is not—implemented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Future enhancements below are recommendations, not current guarantees.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92240"/>
            <a:ext cx="54864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A6B6CA"/>
                </a:solidFill>
                <a:latin typeface="Aptos"/>
              </a:rPr>
              <a:t>SMARTMED  •  FOUNDATION COURSE 2026–27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28800"/>
            <a:ext cx="5166360" cy="3063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13232" y="1975104"/>
            <a:ext cx="50292" cy="2770632"/>
          </a:xfrm>
          <a:prstGeom prst="rect">
            <a:avLst/>
          </a:prstGeom>
          <a:solidFill>
            <a:srgbClr val="FF6F7D"/>
          </a:solidFill>
          <a:ln>
            <a:solidFill>
              <a:srgbClr val="FF6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199339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 Display"/>
              </a:rPr>
              <a:t>CURRENT 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23160"/>
            <a:ext cx="4800600" cy="2350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Mock interaction provider; no real clinical database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No clinical validation or outcome study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No formal security/privacy assessment reported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Token in sessionStorage; script-readable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Rate limiting is instance-local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H2 tests may differ from MySQL concurrency behaviour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828800"/>
            <a:ext cx="5166360" cy="30632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36208" y="1975104"/>
            <a:ext cx="50292" cy="2770632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37376" y="1993392"/>
            <a:ext cx="480060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F5F8FC"/>
                </a:solidFill>
                <a:latin typeface="Aptos Display"/>
              </a:rPr>
              <a:t>NEXT ITERATION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423160"/>
            <a:ext cx="4800600" cy="23500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Integrate validated, licensed interaction data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Run integration/concurrency tests on MySQL 8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Add audit logging and trusted role provisioning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Harden token/session security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Conduct privacy and security reviews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• Add accessibility and usability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5303520"/>
            <a:ext cx="10287000" cy="530352"/>
          </a:xfrm>
          <a:prstGeom prst="roundRect">
            <a:avLst/>
          </a:prstGeom>
          <a:solidFill>
            <a:srgbClr val="182A43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43000" y="5458968"/>
            <a:ext cx="982980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A6B6CA"/>
                </a:solidFill>
                <a:latin typeface="Aptos"/>
              </a:rPr>
              <a:t>No load-test results, production deployment proof or clinical efficacy results are claimed in this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77724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28DABE"/>
                </a:solidFill>
                <a:latin typeface="Aptos"/>
              </a:rPr>
              <a:t>14 /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097280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SmartMed makes medication tracking more structured—and sharing more deliberate.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261872"/>
            <a:ext cx="1078992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A6B6CA"/>
                </a:solidFill>
                <a:latin typeface="Aptos"/>
              </a:rPr>
              <a:t>A layered academic prototype with clear strengths, testable rules and transparent limitations.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0" y="393192"/>
            <a:ext cx="914400" cy="32004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972800" y="475488"/>
            <a:ext cx="594360" cy="32004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0" y="6510528"/>
            <a:ext cx="45720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1" i="0">
                <a:solidFill>
                  <a:srgbClr val="A6B6CA"/>
                </a:solidFill>
                <a:latin typeface="Aptos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383280" cy="12344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975104"/>
            <a:ext cx="50292" cy="941832"/>
          </a:xfrm>
          <a:prstGeom prst="rect">
            <a:avLst/>
          </a:prstGeom>
          <a:solidFill>
            <a:srgbClr val="28DABE"/>
          </a:solidFill>
          <a:ln>
            <a:solidFill>
              <a:srgbClr val="28DA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32688" y="1993392"/>
            <a:ext cx="30175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STRUCTURED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23160"/>
            <a:ext cx="301752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Medication records, schedules, dose history and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828800"/>
            <a:ext cx="3383280" cy="12344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07408" y="1975104"/>
            <a:ext cx="50292" cy="941832"/>
          </a:xfrm>
          <a:prstGeom prst="rect">
            <a:avLst/>
          </a:prstGeom>
          <a:solidFill>
            <a:srgbClr val="CDF769"/>
          </a:solidFill>
          <a:ln>
            <a:solidFill>
              <a:srgbClr val="CDF7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08576" y="1993392"/>
            <a:ext cx="30175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CONSENT-DRIVEN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423160"/>
            <a:ext cx="301752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Read-only care-team visibility with revocable permission.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828800"/>
            <a:ext cx="3383280" cy="123444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975104"/>
            <a:ext cx="50292" cy="941832"/>
          </a:xfrm>
          <a:prstGeom prst="rect">
            <a:avLst/>
          </a:prstGeom>
          <a:solidFill>
            <a:srgbClr val="64A5FF"/>
          </a:solidFill>
          <a:ln>
            <a:solidFill>
              <a:srgbClr val="64A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993392"/>
            <a:ext cx="301752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5F8FC"/>
                </a:solidFill>
                <a:latin typeface="Aptos Display"/>
              </a:rPr>
              <a:t>INTEGRITY-AWARE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423160"/>
            <a:ext cx="3017520" cy="5212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A6B6CA"/>
                </a:solidFill>
                <a:latin typeface="Aptos"/>
              </a:rPr>
              <a:t>Idempotent dose generation and history-preserving deactivation.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520440"/>
            <a:ext cx="106070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1" i="0">
                <a:solidFill>
                  <a:srgbClr val="F5F8FC"/>
                </a:solidFill>
                <a:latin typeface="Aptos Display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096512"/>
            <a:ext cx="106070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28DAB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4800600"/>
            <a:ext cx="10241280" cy="914400"/>
          </a:xfrm>
          <a:prstGeom prst="roundRect">
            <a:avLst/>
          </a:prstGeom>
          <a:solidFill>
            <a:srgbClr val="121F35"/>
          </a:solidFill>
          <a:ln>
            <a:solidFill>
              <a:srgbClr val="182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07008" y="4965192"/>
            <a:ext cx="978408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 i="0">
                <a:solidFill>
                  <a:srgbClr val="CDF769"/>
                </a:solidFill>
                <a:latin typeface="Aptos"/>
              </a:rPr>
              <a:t>PROJECT TEAM  •  CSE-A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5276088"/>
            <a:ext cx="97840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5F8FC"/>
                </a:solidFill>
                <a:latin typeface="Aptos"/>
              </a:rPr>
              <a:t>Aditya Mishra (24EARCS010)  ·  Aditya Yadav (24EARCS011)  ·  Badal Verma (24EARCS038)  ·  Bhawna Sen (24EARCS039)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6080760"/>
            <a:ext cx="10607040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 i="0">
                <a:solidFill>
                  <a:srgbClr val="A6B6CA"/>
                </a:solidFill>
                <a:latin typeface="Aptos"/>
              </a:rPr>
              <a:t>Arya College of Engineering &amp; I.T.  |  Rajasthan Technical University, Kota  |  Session 2026–27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1468</Words>
  <Application>Microsoft Office PowerPoint</Application>
  <PresentationFormat>Custom</PresentationFormat>
  <Paragraphs>278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SmartMed — Medication Management &amp; Adherence Monitoring System</dc:title>
  <dc:subject>Foundation Course project presentation based on research paper, project report and SRS</dc:subject>
  <dc:creator>SmartMed Project Team</dc:creator>
  <cp:keywords>SmartMed, medication management, adherence monitoring, consent, SRS</cp:keywords>
  <dc:description>Prepared from the three supplied PDFs. Does not claim clinical validation or fresh test results.</dc:description>
  <cp:lastModifiedBy>DELL</cp:lastModifiedBy>
  <cp:revision>2</cp:revision>
  <dcterms:created xsi:type="dcterms:W3CDTF">2013-01-27T09:14:16Z</dcterms:created>
  <dcterms:modified xsi:type="dcterms:W3CDTF">2026-10-11T16:20:00Z</dcterms:modified>
  <cp:category/>
</cp:coreProperties>
</file>